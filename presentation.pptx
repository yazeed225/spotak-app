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03920" y="0"/>
            <a:ext cx="3687775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02920" y="502920"/>
            <a:ext cx="0" cy="5852160"/>
          </a:xfrm>
          <a:prstGeom prst="line">
            <a:avLst/>
          </a:prstGeom>
          <a:ln w="6350">
            <a:solidFill>
              <a:srgbClr val="2A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480560" y="502920"/>
            <a:ext cx="0" cy="5852160"/>
          </a:xfrm>
          <a:prstGeom prst="line">
            <a:avLst/>
          </a:prstGeom>
          <a:ln w="6350">
            <a:solidFill>
              <a:srgbClr val="2A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503920" y="502920"/>
            <a:ext cx="0" cy="5852160"/>
          </a:xfrm>
          <a:prstGeom prst="line">
            <a:avLst/>
          </a:prstGeom>
          <a:ln w="6350">
            <a:solidFill>
              <a:srgbClr val="2A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688775" y="502920"/>
            <a:ext cx="0" cy="5852160"/>
          </a:xfrm>
          <a:prstGeom prst="line">
            <a:avLst/>
          </a:prstGeom>
          <a:ln w="6350">
            <a:solidFill>
              <a:srgbClr val="2A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B8BEC7"/>
                </a:solidFill>
                <a:latin typeface="Calibri"/>
              </a:rPr>
              <a:t>Booking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029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4FD1C0"/>
                </a:solidFill>
                <a:latin typeface="Calibri"/>
              </a:rPr>
              <a:t>MILESTONE  /  02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914400"/>
            <a:ext cx="11185855" cy="0"/>
          </a:xfrm>
          <a:prstGeom prst="line">
            <a:avLst/>
          </a:prstGeom>
          <a:ln w="6350">
            <a:solidFill>
              <a:srgbClr val="2A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" y="155448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9525">
            <a:solidFill>
              <a:srgbClr val="2A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4FD1C0"/>
                </a:solidFill>
                <a:latin typeface="Calibri"/>
              </a:rPr>
              <a:t>BIS351  ·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0312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0" b="1" i="0">
                <a:solidFill>
                  <a:srgbClr val="FFFFFF"/>
                </a:solidFill>
                <a:latin typeface="Calibri"/>
              </a:rPr>
              <a:t>Spotak.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34840"/>
            <a:ext cx="1097280" cy="73152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6177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FFFFFF"/>
                </a:solidFill>
                <a:latin typeface="Calibri"/>
              </a:rPr>
              <a:t>Work &amp; study spot booking — 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designed for focus,
</a:t>
            </a:r>
            <a:r>
              <a:rPr sz="2200" b="0" i="1">
                <a:solidFill>
                  <a:srgbClr val="B8BEC7"/>
                </a:solidFill>
                <a:latin typeface="Calibri"/>
              </a:rPr>
              <a:t>built for the way real people find a place to work.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5989320"/>
            <a:ext cx="4114800" cy="0"/>
          </a:xfrm>
          <a:prstGeom prst="line">
            <a:avLst/>
          </a:prstGeom>
          <a:ln w="9525">
            <a:solidFill>
              <a:srgbClr val="2A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080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8A8F99"/>
                </a:solidFill>
                <a:latin typeface="Calibri"/>
              </a:rPr>
              <a:t>PRESENTED 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276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Student Name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0" y="5989320"/>
            <a:ext cx="3017520" cy="0"/>
          </a:xfrm>
          <a:prstGeom prst="line">
            <a:avLst/>
          </a:prstGeom>
          <a:ln w="9525">
            <a:solidFill>
              <a:srgbClr val="2A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0" y="60807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8A8F99"/>
                </a:solidFill>
                <a:latin typeface="Calibri"/>
              </a:rPr>
              <a:t>COURSE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32764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Business Information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A8F99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A8F99"/>
                </a:solidFill>
                <a:latin typeface="Calibri"/>
              </a:rPr>
              <a:t>02  / 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11185855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2920" y="6492240"/>
            <a:ext cx="11185855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8F99"/>
                </a:solidFill>
                <a:latin typeface="Calibri"/>
              </a:rPr>
              <a:t>BIS351  ·  Milestone 2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6539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8F99"/>
                </a:solidFill>
                <a:latin typeface="Calibri"/>
              </a:rPr>
              <a:t>Work &amp; Study Spot Booking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320040" cy="36576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17043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A693"/>
                </a:solidFill>
                <a:latin typeface="Calibri"/>
              </a:rPr>
              <a:t>01  / 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0B0F14"/>
                </a:solidFill>
                <a:latin typeface="Calibri"/>
              </a:rPr>
              <a:t>Where finding a spot breaks.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4A525C"/>
                </a:solidFill>
                <a:latin typeface="Calibri"/>
              </a:rPr>
              <a:t>Three friction points consistently push productive people away from cafes and study spaces.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5468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0B0F14"/>
                </a:solidFill>
                <a:latin typeface="Calibri"/>
              </a:rPr>
              <a:t>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1663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A693"/>
                </a:solidFill>
                <a:latin typeface="Calibri"/>
              </a:rPr>
              <a:t>OF 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44068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525C"/>
                </a:solidFill>
                <a:latin typeface="Calibri"/>
              </a:rPr>
              <a:t>report wasting time searching for a quiet spot before they can actually start working.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520440"/>
            <a:ext cx="1828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000" b="1" i="0">
                <a:solidFill>
                  <a:srgbClr val="00A693"/>
                </a:solidFill>
                <a:latin typeface="Calibri"/>
              </a:rPr>
              <a:t>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52160" y="3108960"/>
            <a:ext cx="0" cy="3154680"/>
          </a:xfrm>
          <a:prstGeom prst="line">
            <a:avLst/>
          </a:prstGeom>
          <a:ln w="6350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72200" y="315468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8A8F99"/>
                </a:solidFill>
                <a:latin typeface="Calibri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10896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B0F14"/>
                </a:solidFill>
                <a:latin typeface="Calibri"/>
              </a:rPr>
              <a:t>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56616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A525C"/>
                </a:solidFill>
                <a:latin typeface="Calibri"/>
              </a:rPr>
              <a:t>Hard to find quiet work and study spots across Saudi Arabia.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72200" y="4160520"/>
            <a:ext cx="5486400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72200" y="423367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8A8F99"/>
                </a:solidFill>
                <a:latin typeface="Calibr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18795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B0F14"/>
                </a:solidFill>
                <a:latin typeface="Calibri"/>
              </a:rPr>
              <a:t>Availability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45152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A525C"/>
                </a:solidFill>
                <a:latin typeface="Calibri"/>
              </a:rPr>
              <a:t>No way to know if a spot is open or busy before you go.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72200" y="5239512"/>
            <a:ext cx="5486400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172200" y="531266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8A8F99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526694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B0F14"/>
                </a:solidFill>
                <a:latin typeface="Calibri"/>
              </a:rPr>
              <a:t>No Reservation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724144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A525C"/>
                </a:solidFill>
                <a:latin typeface="Calibri"/>
              </a:rPr>
              <a:t>Cafes and co-working spaces don't offer online booking.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72200" y="6318504"/>
            <a:ext cx="5486400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A8F99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A8F99"/>
                </a:solidFill>
                <a:latin typeface="Calibri"/>
              </a:rPr>
              <a:t>03  / 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11185855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2920" y="6492240"/>
            <a:ext cx="11185855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8F99"/>
                </a:solidFill>
                <a:latin typeface="Calibri"/>
              </a:rPr>
              <a:t>BIS351  ·  Milestone 2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6539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8F99"/>
                </a:solidFill>
                <a:latin typeface="Calibri"/>
              </a:rPr>
              <a:t>Work &amp; Study Spot Booking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320040" cy="36576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17043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A693"/>
                </a:solidFill>
                <a:latin typeface="Calibri"/>
              </a:rPr>
              <a:t>02  / 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0B0F14"/>
                </a:solidFill>
                <a:latin typeface="Calibri"/>
              </a:rPr>
              <a:t>Discover. Preview. Book.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4A525C"/>
                </a:solidFill>
                <a:latin typeface="Calibri"/>
              </a:rPr>
              <a:t>One focused workflow that turns 'where can I work today?' into a three-tap answer.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71800"/>
            <a:ext cx="361188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337560"/>
            <a:ext cx="320040" cy="36576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747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A693"/>
                </a:solidFill>
                <a:latin typeface="Calibri"/>
              </a:rPr>
              <a:t>STEP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862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F14"/>
                </a:solidFill>
                <a:latin typeface="Calibri"/>
              </a:rPr>
              <a:t>Discover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4A525C"/>
                </a:solidFill>
                <a:latin typeface="Calibri"/>
              </a:rPr>
              <a:t>Filter by Wi-Fi quality, quiet level, power outlets, and 24/7 hours.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532120"/>
            <a:ext cx="964692" cy="292608"/>
          </a:xfrm>
          <a:prstGeom prst="roundRect">
            <a:avLst>
              <a:gd name="adj" fmla="val 50000"/>
            </a:avLst>
          </a:prstGeom>
          <a:solidFill>
            <a:srgbClr val="EF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4A525C"/>
                </a:solidFill>
                <a:latin typeface="Calibri"/>
              </a:rPr>
              <a:t>NAME SEARCH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06524" y="5532120"/>
            <a:ext cx="1120140" cy="292608"/>
          </a:xfrm>
          <a:prstGeom prst="roundRect">
            <a:avLst>
              <a:gd name="adj" fmla="val 50000"/>
            </a:avLst>
          </a:prstGeom>
          <a:solidFill>
            <a:srgbClr val="EF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4A525C"/>
                </a:solidFill>
                <a:latin typeface="Calibri"/>
              </a:rPr>
              <a:t>AMENITY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99816" y="5532120"/>
            <a:ext cx="964692" cy="292608"/>
          </a:xfrm>
          <a:prstGeom prst="roundRect">
            <a:avLst>
              <a:gd name="adj" fmla="val 50000"/>
            </a:avLst>
          </a:prstGeom>
          <a:solidFill>
            <a:srgbClr val="EF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4A525C"/>
                </a:solidFill>
                <a:latin typeface="Calibri"/>
              </a:rPr>
              <a:t>LIVE FILTER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2971800"/>
            <a:ext cx="3611880" cy="3246120"/>
          </a:xfrm>
          <a:prstGeom prst="roundRect">
            <a:avLst>
              <a:gd name="adj" fmla="val 6000"/>
            </a:avLst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3337560"/>
            <a:ext cx="320040" cy="36576"/>
          </a:xfrm>
          <a:prstGeom prst="rect">
            <a:avLst/>
          </a:prstGeom>
          <a:solidFill>
            <a:srgbClr val="4FD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4747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FD1C0"/>
                </a:solidFill>
                <a:latin typeface="Calibri"/>
              </a:rPr>
              <a:t>STEP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8862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66344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B8BEC7"/>
                </a:solidFill>
                <a:latin typeface="Calibri"/>
              </a:rPr>
              <a:t>See full amenities, photos, and details before you ever leave home.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5532120"/>
            <a:ext cx="576072" cy="29260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4FD1C0"/>
                </a:solidFill>
                <a:latin typeface="Calibri"/>
              </a:rPr>
              <a:t>PHOTOS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12664" y="5532120"/>
            <a:ext cx="653796" cy="29260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4FD1C0"/>
                </a:solidFill>
                <a:latin typeface="Calibri"/>
              </a:rPr>
              <a:t>RATINGS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9612" y="5532120"/>
            <a:ext cx="1042416" cy="29260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4FD1C0"/>
                </a:solidFill>
                <a:latin typeface="Calibri"/>
              </a:rPr>
              <a:t>AMENITY LIST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2971800"/>
            <a:ext cx="361188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58200" y="3337560"/>
            <a:ext cx="320040" cy="36576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34747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A693"/>
                </a:solidFill>
                <a:latin typeface="Calibri"/>
              </a:rPr>
              <a:t>STEP 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8862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F14"/>
                </a:solidFill>
                <a:latin typeface="Calibri"/>
              </a:rPr>
              <a:t>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66344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4A525C"/>
                </a:solidFill>
                <a:latin typeface="Calibri"/>
              </a:rPr>
              <a:t>Lock a seat with date, time, and group size in seconds.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58200" y="5532120"/>
            <a:ext cx="964692" cy="292608"/>
          </a:xfrm>
          <a:prstGeom prst="roundRect">
            <a:avLst>
              <a:gd name="adj" fmla="val 50000"/>
            </a:avLst>
          </a:prstGeom>
          <a:solidFill>
            <a:srgbClr val="EF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4A525C"/>
                </a:solidFill>
                <a:latin typeface="Calibri"/>
              </a:rPr>
              <a:t>DATE / TIME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96044" y="5532120"/>
            <a:ext cx="886968" cy="292608"/>
          </a:xfrm>
          <a:prstGeom prst="roundRect">
            <a:avLst>
              <a:gd name="adj" fmla="val 50000"/>
            </a:avLst>
          </a:prstGeom>
          <a:solidFill>
            <a:srgbClr val="EF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4A525C"/>
                </a:solidFill>
                <a:latin typeface="Calibri"/>
              </a:rPr>
              <a:t>GROUP SIZE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56164" y="5532120"/>
            <a:ext cx="964692" cy="292608"/>
          </a:xfrm>
          <a:prstGeom prst="roundRect">
            <a:avLst>
              <a:gd name="adj" fmla="val 50000"/>
            </a:avLst>
          </a:prstGeom>
          <a:solidFill>
            <a:srgbClr val="EF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4A525C"/>
                </a:solidFill>
                <a:latin typeface="Calibri"/>
              </a:rPr>
              <a:t>FEE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A8F99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A8F99"/>
                </a:solidFill>
                <a:latin typeface="Calibri"/>
              </a:rPr>
              <a:t>04  / 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11185855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2920" y="6492240"/>
            <a:ext cx="11185855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8F99"/>
                </a:solidFill>
                <a:latin typeface="Calibri"/>
              </a:rPr>
              <a:t>BIS351  ·  Milestone 2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6539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8F99"/>
                </a:solidFill>
                <a:latin typeface="Calibri"/>
              </a:rPr>
              <a:t>Work &amp; Study Spot Booking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320040" cy="36576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17043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A693"/>
                </a:solidFill>
                <a:latin typeface="Calibri"/>
              </a:rPr>
              <a:t>03  / 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0B0F14"/>
                </a:solidFill>
                <a:latin typeface="Calibri"/>
              </a:rPr>
              <a:t>Five focused screens.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4A525C"/>
                </a:solidFill>
                <a:latin typeface="Calibri"/>
              </a:rPr>
              <a:t>One shared design system. Each page does one job, exceptionally well.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71800"/>
            <a:ext cx="5492343" cy="1645920"/>
          </a:xfrm>
          <a:prstGeom prst="roundRect">
            <a:avLst>
              <a:gd name="adj" fmla="val 5000"/>
            </a:avLst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4FD1C0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91840"/>
            <a:ext cx="3480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Home / Explore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840480"/>
            <a:ext cx="34806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B8BEC7"/>
                </a:solidFill>
                <a:latin typeface="Calibri"/>
              </a:rPr>
              <a:t>Search, amenity chips, spot cards.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6431" y="2971800"/>
            <a:ext cx="5492343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2191" y="3200400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0B0F14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8071" y="3291840"/>
            <a:ext cx="3480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B0F14"/>
                </a:solidFill>
                <a:latin typeface="Calibri"/>
              </a:rPr>
              <a:t>Spot Detail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8071" y="3840480"/>
            <a:ext cx="34806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A525C"/>
                </a:solidFill>
                <a:latin typeface="Calibri"/>
              </a:rPr>
              <a:t>Photo hero, amenities, description, CTA.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18888"/>
            <a:ext cx="3594506" cy="1645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093208"/>
            <a:ext cx="54864" cy="109728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09320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A693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413248"/>
            <a:ext cx="286298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0B0F14"/>
                </a:solidFill>
                <a:latin typeface="Calibri"/>
              </a:rPr>
              <a:t>Booking 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870448"/>
            <a:ext cx="28629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A525C"/>
                </a:solidFill>
                <a:latin typeface="Calibri"/>
              </a:rPr>
              <a:t>Date, time, group size, live fee summary.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8594" y="4818888"/>
            <a:ext cx="3594506" cy="1645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8594" y="5093208"/>
            <a:ext cx="54864" cy="109728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4354" y="509320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A693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5413248"/>
            <a:ext cx="286298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0B0F14"/>
                </a:solidFill>
                <a:latin typeface="Calibri"/>
              </a:rPr>
              <a:t>Login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4354" y="5870448"/>
            <a:ext cx="28629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A525C"/>
                </a:solidFill>
                <a:latin typeface="Calibri"/>
              </a:rPr>
              <a:t>Email + password, session in localStorage.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4268" y="4818888"/>
            <a:ext cx="3594506" cy="1645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4268" y="5093208"/>
            <a:ext cx="54864" cy="109728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0028" y="509320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A693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0028" y="5413248"/>
            <a:ext cx="286298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0B0F14"/>
                </a:solidFill>
                <a:latin typeface="Calibri"/>
              </a:rPr>
              <a:t>Booking Confirmation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0028" y="5870448"/>
            <a:ext cx="28629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A525C"/>
                </a:solidFill>
                <a:latin typeface="Calibri"/>
              </a:rPr>
              <a:t>Animated check + saved booking summary.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A8F99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A8F99"/>
                </a:solidFill>
                <a:latin typeface="Calibri"/>
              </a:rPr>
              <a:t>05  / 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11185855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2920" y="6492240"/>
            <a:ext cx="11185855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8F99"/>
                </a:solidFill>
                <a:latin typeface="Calibri"/>
              </a:rPr>
              <a:t>BIS351  ·  Milestone 2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6539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8F99"/>
                </a:solidFill>
                <a:latin typeface="Calibri"/>
              </a:rPr>
              <a:t>Work &amp; Study Spot Booking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320040" cy="36576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17043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A693"/>
                </a:solidFill>
                <a:latin typeface="Calibri"/>
              </a:rPr>
              <a:t>04  / 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0B0F14"/>
                </a:solidFill>
                <a:latin typeface="Calibri"/>
              </a:rPr>
              <a:t>Built around four core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4A525C"/>
                </a:solidFill>
                <a:latin typeface="Calibri"/>
              </a:rPr>
              <a:t>Every feature serves the same goal — get you working in under sixty 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63240"/>
            <a:ext cx="5303520" cy="3246120"/>
          </a:xfrm>
          <a:prstGeom prst="roundRect">
            <a:avLst>
              <a:gd name="adj" fmla="val 5000"/>
            </a:avLst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3520440"/>
            <a:ext cx="822960" cy="54864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3480" y="3703320"/>
            <a:ext cx="365760" cy="54864"/>
          </a:xfrm>
          <a:prstGeom prst="rect">
            <a:avLst/>
          </a:prstGeom>
          <a:solidFill>
            <a:srgbClr val="4FD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2044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FD1C0"/>
                </a:solidFill>
                <a:latin typeface="Calibri"/>
              </a:rPr>
              <a:t>FEATURE  / 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31920"/>
            <a:ext cx="4389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Smart search
&amp; filters.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39496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B8BEC7"/>
                </a:solidFill>
                <a:latin typeface="Calibri"/>
              </a:rPr>
              <a:t>Combine free-text name search with amenity chips — Wi-Fi, quiet, 24/7, meeting rooms — to narrow down the right spot in real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06324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A693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0175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B0F14"/>
                </a:solidFill>
                <a:latin typeface="Calibri"/>
              </a:rPr>
              <a:t>Spot details &amp; amenities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52044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A525C"/>
                </a:solidFill>
                <a:latin typeface="Calibri"/>
              </a:rPr>
              <a:t>Wi-Fi speed, power outlets, and quietness data for every spot.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0760" y="4069080"/>
            <a:ext cx="5577840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80760" y="4142232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A693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09651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B0F14"/>
                </a:solidFill>
                <a:latin typeface="Calibri"/>
              </a:rPr>
              <a:t>Online booking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599432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A525C"/>
                </a:solidFill>
                <a:latin typeface="Calibri"/>
              </a:rPr>
              <a:t>Date, time, and group size with a transparent fee summary.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5148072"/>
            <a:ext cx="5577840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80760" y="5221224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A693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5175504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B0F14"/>
                </a:solidFill>
                <a:latin typeface="Calibri"/>
              </a:rPr>
              <a:t>Login &amp; session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678424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A525C"/>
                </a:solidFill>
                <a:latin typeface="Calibri"/>
              </a:rPr>
              <a:t>Secure email + password, persisted in browser localStorage.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0760" y="6227064"/>
            <a:ext cx="5577840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A8F99"/>
                </a:solidFill>
                <a:latin typeface="Calibri"/>
              </a:rPr>
              <a:t>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A8F99"/>
                </a:solidFill>
                <a:latin typeface="Calibri"/>
              </a:rPr>
              <a:t>06  / 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11185855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2920" y="6492240"/>
            <a:ext cx="11185855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8F99"/>
                </a:solidFill>
                <a:latin typeface="Calibri"/>
              </a:rPr>
              <a:t>BIS351  ·  Milestone 2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6539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8F99"/>
                </a:solidFill>
                <a:latin typeface="Calibri"/>
              </a:rPr>
              <a:t>Work &amp; Study Spot Booking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320040" cy="36576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17043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A693"/>
                </a:solidFill>
                <a:latin typeface="Calibri"/>
              </a:rPr>
              <a:t>05  / 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0B0F14"/>
                </a:solidFill>
                <a:latin typeface="Calibri"/>
              </a:rPr>
              <a:t>Zero frameworks. Built to stay readable.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4A525C"/>
                </a:solidFill>
                <a:latin typeface="Calibri"/>
              </a:rPr>
              <a:t>Three languages, every line legible by a first-year developer — the way milestone work should be.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71800"/>
            <a:ext cx="361188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971800"/>
            <a:ext cx="3611880" cy="54864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3474720"/>
            <a:ext cx="2377440" cy="1005840"/>
          </a:xfrm>
          <a:prstGeom prst="roundRect">
            <a:avLst>
              <a:gd name="adj" fmla="val 10000"/>
            </a:avLst>
          </a:prstGeom>
          <a:solidFill>
            <a:srgbClr val="EF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2377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0B0F14"/>
                </a:solidFill>
                <a:latin typeface="Consolas"/>
              </a:rPr>
              <a:t>&lt;html&gt;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B0F14"/>
                </a:solidFill>
                <a:latin typeface="Calibri"/>
              </a:rPr>
              <a:t>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4A525C"/>
                </a:solidFill>
                <a:latin typeface="Calibri"/>
              </a:rPr>
              <a:t>Semantic structure across five pages.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66928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 w="9525"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4A525C"/>
                </a:solidFill>
                <a:latin typeface="Calibri"/>
              </a:rPr>
              <a:t>semantic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55064" y="566928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 w="9525"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4A525C"/>
                </a:solidFill>
                <a:latin typeface="Calibri"/>
              </a:rPr>
              <a:t>accessible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78608" y="5669280"/>
            <a:ext cx="644652" cy="274320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 w="9525"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4A525C"/>
                </a:solidFill>
                <a:latin typeface="Calibri"/>
              </a:rPr>
              <a:t>5 pages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2971800"/>
            <a:ext cx="361188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2971800"/>
            <a:ext cx="3611880" cy="54864"/>
          </a:xfrm>
          <a:prstGeom prst="rect">
            <a:avLst/>
          </a:prstGeom>
          <a:solidFill>
            <a:srgbClr val="F16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63440" y="3474720"/>
            <a:ext cx="2377440" cy="1005840"/>
          </a:xfrm>
          <a:prstGeom prst="roundRect">
            <a:avLst>
              <a:gd name="adj" fmla="val 10000"/>
            </a:avLst>
          </a:prstGeom>
          <a:solidFill>
            <a:srgbClr val="EF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566160"/>
            <a:ext cx="2377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0B0F14"/>
                </a:solidFill>
                <a:latin typeface="Consolas"/>
              </a:rPr>
              <a:t>{ . . 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66344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B0F14"/>
                </a:solidFill>
                <a:latin typeface="Calibri"/>
              </a:rPr>
              <a:t>CSS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16636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4A525C"/>
                </a:solidFill>
                <a:latin typeface="Calibri"/>
              </a:rPr>
              <a:t>CSS variables, custom typography, mobile-first.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5669280"/>
            <a:ext cx="781812" cy="274320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 w="9525"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4A525C"/>
                </a:solidFill>
                <a:latin typeface="Calibri"/>
              </a:rPr>
              <a:t>variables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18404" y="566928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 w="9525"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4A525C"/>
                </a:solidFill>
                <a:latin typeface="Calibri"/>
              </a:rPr>
              <a:t>responsive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1948" y="5669280"/>
            <a:ext cx="644652" cy="274320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 w="9525"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4A525C"/>
                </a:solidFill>
                <a:latin typeface="Calibri"/>
              </a:rPr>
              <a:t>DM Sans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2971800"/>
            <a:ext cx="361188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2971800"/>
            <a:ext cx="3611880" cy="54864"/>
          </a:xfrm>
          <a:prstGeom prst="rect">
            <a:avLst/>
          </a:prstGeom>
          <a:solidFill>
            <a:srgbClr val="E9B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58200" y="3474720"/>
            <a:ext cx="2377440" cy="1005840"/>
          </a:xfrm>
          <a:prstGeom prst="roundRect">
            <a:avLst>
              <a:gd name="adj" fmla="val 10000"/>
            </a:avLst>
          </a:prstGeom>
          <a:solidFill>
            <a:srgbClr val="EF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3566160"/>
            <a:ext cx="2377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0B0F14"/>
                </a:solidFill>
                <a:latin typeface="Consolas"/>
              </a:rPr>
              <a:t>() =&gt; { 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66344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B0F14"/>
                </a:solidFill>
                <a:latin typeface="Calibri"/>
              </a:rPr>
              <a:t>JavaScript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516636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4A525C"/>
                </a:solidFill>
                <a:latin typeface="Calibri"/>
              </a:rPr>
              <a:t>localStorage, validation, live filtering.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58200" y="5669280"/>
            <a:ext cx="644652" cy="274320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 w="9525"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4A525C"/>
                </a:solidFill>
                <a:latin typeface="Calibri"/>
              </a:rPr>
              <a:t>vanilla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76004" y="5669280"/>
            <a:ext cx="438912" cy="274320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 w="9525"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4A525C"/>
                </a:solidFill>
                <a:latin typeface="Calibri"/>
              </a:rPr>
              <a:t>ES6+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88068" y="5669280"/>
            <a:ext cx="644652" cy="274320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 w="9525"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4A525C"/>
                </a:solidFill>
                <a:latin typeface="Calibri"/>
              </a:rPr>
              <a:t>no deps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A8F99"/>
                </a:solidFill>
                <a:latin typeface="Calibri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A8F99"/>
                </a:solidFill>
                <a:latin typeface="Calibri"/>
              </a:rPr>
              <a:t>07  / 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11185855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2920" y="6492240"/>
            <a:ext cx="11185855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8F99"/>
                </a:solidFill>
                <a:latin typeface="Calibri"/>
              </a:rPr>
              <a:t>BIS351  ·  Milestone 2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6539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8F99"/>
                </a:solidFill>
                <a:latin typeface="Calibri"/>
              </a:rPr>
              <a:t>Work &amp; Study Spot Booking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320040" cy="36576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17043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A693"/>
                </a:solidFill>
                <a:latin typeface="Calibri"/>
              </a:rPr>
              <a:t>06  / 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0B0F14"/>
                </a:solidFill>
                <a:latin typeface="Calibri"/>
              </a:rPr>
              <a:t>Project timeline.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4A525C"/>
                </a:solidFill>
                <a:latin typeface="Calibri"/>
              </a:rPr>
              <a:t>Seven phases, eight days, one milestone delivery.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3337560"/>
            <a:ext cx="0" cy="2798064"/>
          </a:xfrm>
          <a:prstGeom prst="line">
            <a:avLst/>
          </a:prstGeom>
          <a:ln w="12700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48640" y="3246120"/>
            <a:ext cx="182880" cy="182880"/>
          </a:xfrm>
          <a:prstGeom prst="ellipse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004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8A8F99"/>
                </a:solidFill>
                <a:latin typeface="Calibri"/>
              </a:rPr>
              <a:t>PH-01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313639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B0F14"/>
                </a:solidFill>
                <a:latin typeface="Calibri"/>
              </a:rPr>
              <a:t>Requirements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3172968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4A525C"/>
                </a:solidFill>
                <a:latin typeface="Consolas"/>
              </a:rPr>
              <a:t>May 6 – 7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0120" y="3465576"/>
            <a:ext cx="10789920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48640" y="3685032"/>
            <a:ext cx="182880" cy="182880"/>
          </a:xfrm>
          <a:prstGeom prst="ellipse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63931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8A8F99"/>
                </a:solidFill>
                <a:latin typeface="Calibri"/>
              </a:rPr>
              <a:t>PH-02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20" y="3575304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B0F14"/>
                </a:solidFill>
                <a:latin typeface="Calibri"/>
              </a:rPr>
              <a:t>UI design &amp; mockups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61188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4A525C"/>
                </a:solidFill>
                <a:latin typeface="Consolas"/>
              </a:rPr>
              <a:t>May 7 – 8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0120" y="3904488"/>
            <a:ext cx="10789920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48640" y="4123944"/>
            <a:ext cx="182880" cy="182880"/>
          </a:xfrm>
          <a:prstGeom prst="ellipse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07822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8A8F99"/>
                </a:solidFill>
                <a:latin typeface="Calibri"/>
              </a:rPr>
              <a:t>PH-03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20" y="40142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B0F14"/>
                </a:solidFill>
                <a:latin typeface="Calibri"/>
              </a:rPr>
              <a:t>HTML 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4050792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4A525C"/>
                </a:solidFill>
                <a:latin typeface="Consolas"/>
              </a:rPr>
              <a:t>May 8 – 9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60120" y="4343400"/>
            <a:ext cx="10789920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48640" y="4562856"/>
            <a:ext cx="182880" cy="182880"/>
          </a:xfrm>
          <a:prstGeom prst="ellipse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517136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8A8F99"/>
                </a:solidFill>
                <a:latin typeface="Calibri"/>
              </a:rPr>
              <a:t>PH-04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20" y="4453128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B0F14"/>
                </a:solidFill>
                <a:latin typeface="Calibri"/>
              </a:rPr>
              <a:t>CSS styling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4489704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4A525C"/>
                </a:solidFill>
                <a:latin typeface="Consolas"/>
              </a:rPr>
              <a:t>May 9 – 10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0120" y="4782312"/>
            <a:ext cx="10789920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48640" y="5001768"/>
            <a:ext cx="182880" cy="182880"/>
          </a:xfrm>
          <a:prstGeom prst="ellipse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95604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8A8F99"/>
                </a:solidFill>
                <a:latin typeface="Calibri"/>
              </a:rPr>
              <a:t>PH-05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20" y="48920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B0F14"/>
                </a:solidFill>
                <a:latin typeface="Calibri"/>
              </a:rPr>
              <a:t>JavaScript logic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4928616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4A525C"/>
                </a:solidFill>
                <a:latin typeface="Consolas"/>
              </a:rPr>
              <a:t>May 10 – 12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60120" y="5221224"/>
            <a:ext cx="10789920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48640" y="5440680"/>
            <a:ext cx="182880" cy="182880"/>
          </a:xfrm>
          <a:prstGeom prst="ellipse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39496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8A8F99"/>
                </a:solidFill>
                <a:latin typeface="Calibri"/>
              </a:rPr>
              <a:t>PH-06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4520" y="533095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B0F14"/>
                </a:solidFill>
                <a:latin typeface="Calibri"/>
              </a:rPr>
              <a:t>Testing &amp; debugging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5367528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4A525C"/>
                </a:solidFill>
                <a:latin typeface="Consolas"/>
              </a:rPr>
              <a:t>May 12 – 13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60120" y="5660136"/>
            <a:ext cx="10789920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548640" y="5879592"/>
            <a:ext cx="182880" cy="182880"/>
          </a:xfrm>
          <a:prstGeom prst="ellipse">
            <a:avLst/>
          </a:prstGeom>
          <a:solidFill>
            <a:srgbClr val="F16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583387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8A8F99"/>
                </a:solidFill>
                <a:latin typeface="Calibri"/>
              </a:rPr>
              <a:t>PH-07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74520" y="5769864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B0F14"/>
                </a:solidFill>
                <a:latin typeface="Calibri"/>
              </a:rPr>
              <a:t>Final review &amp; deployment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58064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4A525C"/>
                </a:solidFill>
                <a:latin typeface="Consolas"/>
              </a:rPr>
              <a:t>May 13 – 14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60120" y="6099048"/>
            <a:ext cx="10789920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B8BEC7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B8BEC7"/>
                </a:solidFill>
                <a:latin typeface="Calibri"/>
              </a:rPr>
              <a:t>08  / 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14400"/>
            <a:ext cx="11185855" cy="0"/>
          </a:xfrm>
          <a:prstGeom prst="line">
            <a:avLst/>
          </a:prstGeom>
          <a:ln w="6350">
            <a:solidFill>
              <a:srgbClr val="2A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02920" y="1920240"/>
            <a:ext cx="320040" cy="36576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92224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FD1C0"/>
                </a:solidFill>
                <a:latin typeface="Calibri"/>
              </a:rPr>
              <a:t>INTERMISSION  / 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6400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13000" b="1" i="0">
                <a:solidFill>
                  <a:srgbClr val="FFFFFF"/>
                </a:solidFill>
                <a:latin typeface="Calibri"/>
              </a:rPr>
              <a:t>Live
Demo.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166360"/>
            <a:ext cx="1097280" cy="73152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349240"/>
            <a:ext cx="5943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Let's walk through Spotak.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978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8A8F99"/>
                </a:solidFill>
                <a:latin typeface="Calibri"/>
              </a:rPr>
              <a:t>GITHUB PAGES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FD1C0"/>
                </a:solidFill>
                <a:latin typeface="Consolas"/>
              </a:rPr>
              <a:t>[ add link here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20"/>
            <a:ext cx="4526280" cy="4297680"/>
          </a:xfrm>
          <a:prstGeom prst="roundRect">
            <a:avLst>
              <a:gd name="adj" fmla="val 4000"/>
            </a:avLst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78040" y="1691640"/>
            <a:ext cx="4526280" cy="4297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9525">
            <a:solidFill>
              <a:srgbClr val="2A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78040" y="1691640"/>
            <a:ext cx="4526280" cy="457200"/>
          </a:xfrm>
          <a:prstGeom prst="roundRect">
            <a:avLst>
              <a:gd name="adj" fmla="val 6000"/>
            </a:avLst>
          </a:prstGeom>
          <a:solidFill>
            <a:srgbClr val="1F2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2011680"/>
            <a:ext cx="4526280" cy="137160"/>
          </a:xfrm>
          <a:prstGeom prst="rect">
            <a:avLst/>
          </a:prstGeom>
          <a:solidFill>
            <a:srgbClr val="1F2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9208" y="1856232"/>
            <a:ext cx="146304" cy="146304"/>
          </a:xfrm>
          <a:prstGeom prst="rect">
            <a:avLst/>
          </a:prstGeom>
          <a:solidFill>
            <a:srgbClr val="F16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53528" y="1856232"/>
            <a:ext cx="146304" cy="146304"/>
          </a:xfrm>
          <a:prstGeom prst="rect">
            <a:avLst/>
          </a:prstGeom>
          <a:solidFill>
            <a:srgbClr val="E9B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27848" y="1856232"/>
            <a:ext cx="146304" cy="146304"/>
          </a:xfrm>
          <a:prstGeom prst="rect">
            <a:avLst/>
          </a:prstGeom>
          <a:solidFill>
            <a:srgbClr val="4FD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58200" y="1783080"/>
            <a:ext cx="2880360" cy="274320"/>
          </a:xfrm>
          <a:prstGeom prst="roundRect">
            <a:avLst>
              <a:gd name="adj" fmla="val 50000"/>
            </a:avLst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0">
                <a:solidFill>
                  <a:srgbClr val="B8BEC7"/>
                </a:solidFill>
                <a:latin typeface="Calibri"/>
              </a:rPr>
              <a:t>spotak.com  /  index.html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43800" y="2560320"/>
            <a:ext cx="128016" cy="128016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4968" y="24688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FD1C0"/>
                </a:solidFill>
                <a:latin typeface="Calibri"/>
              </a:rPr>
              <a:t>LIVE PREVIEW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063240"/>
            <a:ext cx="4526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Calibri"/>
              </a:rPr>
              <a:t>Spotak.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20624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B8BEC7"/>
                </a:solidFill>
                <a:latin typeface="Calibri"/>
              </a:rPr>
              <a:t>Find your perfect spot.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4892040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Quiet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48472" y="4892040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0B0F14"/>
          </a:solidFill>
          <a:ln w="9525">
            <a:solidFill>
              <a:srgbClr val="2A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B8BEC7"/>
                </a:solidFill>
                <a:latin typeface="Calibri"/>
              </a:rPr>
              <a:t>Wi-Fi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61704" y="4892040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0B0F14"/>
          </a:solidFill>
          <a:ln w="9525">
            <a:solidFill>
              <a:srgbClr val="2A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B8BEC7"/>
                </a:solidFill>
                <a:latin typeface="Calibri"/>
              </a:rPr>
              <a:t>24/7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83496" y="4892040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0B0F14"/>
          </a:solidFill>
          <a:ln w="9525">
            <a:solidFill>
              <a:srgbClr val="2A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B8BEC7"/>
                </a:solidFill>
                <a:latin typeface="Calibri"/>
              </a:rPr>
              <a:t>Meet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5212080"/>
            <a:ext cx="3611880" cy="502920"/>
          </a:xfrm>
          <a:prstGeom prst="roundRect">
            <a:avLst>
              <a:gd name="adj" fmla="val 35000"/>
            </a:avLst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5212080"/>
            <a:ext cx="3611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Explore Spots 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A8F99"/>
                </a:solidFill>
                <a:latin typeface="Calibri"/>
              </a:rPr>
              <a:t>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A8F99"/>
                </a:solidFill>
                <a:latin typeface="Calibri"/>
              </a:rPr>
              <a:t>09  / 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11185855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2920" y="6492240"/>
            <a:ext cx="11185855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8F99"/>
                </a:solidFill>
                <a:latin typeface="Calibri"/>
              </a:rPr>
              <a:t>BIS351  ·  Milestone 2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6539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8F99"/>
                </a:solidFill>
                <a:latin typeface="Calibri"/>
              </a:rPr>
              <a:t>Work &amp; Study Spot Booking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320040" cy="36576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17043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A693"/>
                </a:solidFill>
                <a:latin typeface="Calibri"/>
              </a:rPr>
              <a:t>07  / 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0B0F14"/>
                </a:solidFill>
                <a:latin typeface="Calibri"/>
              </a:rPr>
              <a:t>Challenges &amp; solutions.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4A525C"/>
                </a:solidFill>
                <a:latin typeface="Calibri"/>
              </a:rPr>
              <a:t>Every milestone has friction. Here's what slowed us down — and what we did about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1752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7355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B0F14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004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16E3F"/>
                </a:solidFill>
                <a:latin typeface="Calibri"/>
              </a:rPr>
              <a:t>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56432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0F14"/>
                </a:solidFill>
                <a:latin typeface="Calibri"/>
              </a:rPr>
              <a:t>Responsive mobile layout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3101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00A693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004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00A693"/>
                </a:solidFill>
                <a:latin typeface="Calibri"/>
              </a:rPr>
              <a:t>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56432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A525C"/>
                </a:solidFill>
                <a:latin typeface="Calibri"/>
              </a:rPr>
              <a:t>CSS max-width: 430px with flexbox keeps the phone-app feel on any screen.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6908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2511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B0F14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2519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16E3F"/>
                </a:solidFill>
                <a:latin typeface="Calibri"/>
              </a:rPr>
              <a:t>CHALLENGE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507992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0F14"/>
                </a:solidFill>
                <a:latin typeface="Calibri"/>
              </a:rPr>
              <a:t>Data persistence without 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3616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00A693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2519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00A693"/>
                </a:solidFill>
                <a:latin typeface="Calibri"/>
              </a:rPr>
              <a:t>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507992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A525C"/>
                </a:solidFill>
                <a:latin typeface="Calibri"/>
              </a:rPr>
              <a:t>Namespaced JSON keys in localStorage with try/catch guards.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12064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7667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B0F14"/>
                </a:solidFill>
                <a:latin typeface="Calibr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3035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16E3F"/>
                </a:solidFill>
                <a:latin typeface="Calibri"/>
              </a:rPr>
              <a:t>CHALLENGE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559552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0F14"/>
                </a:solidFill>
                <a:latin typeface="Calibri"/>
              </a:rPr>
              <a:t>Form validation logic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54132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00A693"/>
                </a:solidFill>
                <a:latin typeface="Calibr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3035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00A693"/>
                </a:solidFill>
                <a:latin typeface="Calibri"/>
              </a:rPr>
              <a:t>SOLUTION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559552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A525C"/>
                </a:solidFill>
                <a:latin typeface="Calibri"/>
              </a:rPr>
              <a:t>JavaScript guards plus accessible aria-live error messages.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A8F99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A8F99"/>
                </a:solidFill>
                <a:latin typeface="Calibri"/>
              </a:rPr>
              <a:t>10  / 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11185855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2920" y="6492240"/>
            <a:ext cx="11185855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8F99"/>
                </a:solidFill>
                <a:latin typeface="Calibri"/>
              </a:rPr>
              <a:t>BIS351  ·  Milestone 2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6539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8F99"/>
                </a:solidFill>
                <a:latin typeface="Calibri"/>
              </a:rPr>
              <a:t>Work &amp; Study Spot Booking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320040" cy="36576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17043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A693"/>
                </a:solidFill>
                <a:latin typeface="Calibri"/>
              </a:rPr>
              <a:t>08  /  WRAP-UP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0B0F14"/>
                </a:solidFill>
                <a:latin typeface="Calibri"/>
              </a:rPr>
              <a:t>What we built — and what's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346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F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0B0F14"/>
                </a:solidFill>
                <a:latin typeface="Calibri"/>
              </a:rPr>
              <a:t>SHIPPED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816352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0B0F14"/>
                </a:solidFill>
                <a:latin typeface="Calibri"/>
              </a:rPr>
              <a:t>A working 5-page web application, end to end.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3337560"/>
            <a:ext cx="5486400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354787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F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0B0F14"/>
                </a:solidFill>
                <a:latin typeface="Calibri"/>
              </a:rPr>
              <a:t>IMPLEMENTED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529584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0B0F14"/>
                </a:solidFill>
                <a:latin typeface="Calibri"/>
              </a:rPr>
              <a:t>Search, filtering, booking, and login features.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4050792"/>
            <a:ext cx="5486400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" y="426110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F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0B0F14"/>
                </a:solidFill>
                <a:latin typeface="Calibri"/>
              </a:rP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242816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0B0F14"/>
                </a:solidFill>
                <a:latin typeface="Calibri"/>
              </a:rPr>
              <a:t>Real backend, payment gateway, and map integration.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4764024"/>
            <a:ext cx="5486400" cy="0"/>
          </a:xfrm>
          <a:prstGeom prst="line">
            <a:avLst/>
          </a:prstGeom>
          <a:ln w="9525">
            <a:solidFill>
              <a:srgbClr val="D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0" y="2743200"/>
            <a:ext cx="5120640" cy="3520440"/>
          </a:xfrm>
          <a:prstGeom prst="roundRect">
            <a:avLst>
              <a:gd name="adj" fmla="val 5000"/>
            </a:avLst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32720" y="2468880"/>
            <a:ext cx="1645920" cy="1645920"/>
          </a:xfrm>
          <a:prstGeom prst="ellipse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858000" y="3108960"/>
            <a:ext cx="4572000" cy="0"/>
          </a:xfrm>
          <a:prstGeom prst="line">
            <a:avLst/>
          </a:prstGeom>
          <a:ln w="6350">
            <a:solidFill>
              <a:srgbClr val="2A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0" y="2880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FD1C0"/>
                </a:solidFill>
                <a:latin typeface="Calibri"/>
              </a:rPr>
              <a:t>CLOSING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24612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800" b="1" i="0">
                <a:solidFill>
                  <a:srgbClr val="FFFFFF"/>
                </a:solidFill>
                <a:latin typeface="Calibri"/>
              </a:rPr>
              <a:t>Thank
you.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4864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B8BEC7"/>
                </a:solidFill>
                <a:latin typeface="Calibri"/>
              </a:rPr>
              <a:t>Questions are welcome.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8978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8A8F99"/>
                </a:solidFill>
                <a:latin typeface="Calibri"/>
              </a:rPr>
              <a:t>BIS351  ·  Milestone 2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